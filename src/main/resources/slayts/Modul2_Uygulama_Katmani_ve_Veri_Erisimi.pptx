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04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439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1A2E3F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291840"/>
            <a:ext cx="2743200" cy="2743200"/>
          </a:xfrm>
          <a:prstGeom prst="ellipse">
            <a:avLst/>
          </a:prstGeom>
          <a:solidFill>
            <a:srgbClr val="1E2D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MASTERY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Katmanı ve Veri Erişimi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AOP'den Katmanlı Mimariye: REST, JPA, Repository, Clean Architecture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502920" cy="365760"/>
          </a:xfrm>
          <a:prstGeom prst="roundRect">
            <a:avLst>
              <a:gd name="adj" fmla="val 50000"/>
            </a:avLst>
          </a:prstGeom>
          <a:solidFill>
            <a:srgbClr val="1A2E3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16152" y="3794760"/>
            <a:ext cx="1161288" cy="365760"/>
          </a:xfrm>
          <a:prstGeom prst="roundRect">
            <a:avLst>
              <a:gd name="adj" fmla="val 50000"/>
            </a:avLst>
          </a:prstGeom>
          <a:solidFill>
            <a:srgbClr val="1A2E3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3794760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42032" y="3794760"/>
            <a:ext cx="1490472" cy="365760"/>
          </a:xfrm>
          <a:prstGeom prst="roundRect">
            <a:avLst>
              <a:gd name="adj" fmla="val 50000"/>
            </a:avLst>
          </a:prstGeom>
          <a:solidFill>
            <a:srgbClr val="1A2E3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379476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97096" y="37947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A2E3F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97096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 Mimari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Neominal Akademi  •  Kurumsal Uygulama Geliştirme Eğitimi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İÇINDEKILER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Modülde Neler Var?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8138160" cy="694944"/>
          </a:xfrm>
          <a:prstGeom prst="roundRect">
            <a:avLst>
              <a:gd name="adj" fmla="val 10526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527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80160" y="15819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AOP ve Annotation'lar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1892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 yönetimi, advice türleri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350008"/>
            <a:ext cx="8138160" cy="694944"/>
          </a:xfrm>
          <a:prstGeom prst="roundRect">
            <a:avLst>
              <a:gd name="adj" fmla="val 10526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51460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" y="23682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280160" y="2423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Servis Mimarisi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80160" y="27340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anotasyonları, DTO, versiyonlama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191256"/>
            <a:ext cx="8138160" cy="694944"/>
          </a:xfrm>
          <a:prstGeom prst="roundRect">
            <a:avLst>
              <a:gd name="adj" fmla="val 10526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35584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" y="3209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280160" y="32644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&amp; PostgreSQL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280160" y="35753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mapping, Repository, query method'lar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4032504"/>
            <a:ext cx="8138160" cy="694944"/>
          </a:xfrm>
          <a:prstGeom prst="roundRect">
            <a:avLst>
              <a:gd name="adj" fmla="val 10526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19709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" y="4050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280160" y="41056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ve N-Tier Mimari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280160" y="44165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 sorumlulukları, paket organizasyonu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Uygulama Katmanı ve Veri Erişimi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SPRING AOP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AOP Kavramları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concern'leri (loglama, transaction, güvenlik) iş mantığından ayırır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8138160" cy="475488"/>
          </a:xfrm>
          <a:prstGeom prst="roundRect">
            <a:avLst>
              <a:gd name="adj" fmla="val 15385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465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Aspect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80360" y="174650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sorumluluğu kapsülleyen modül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258568"/>
            <a:ext cx="8138160" cy="475488"/>
          </a:xfrm>
          <a:prstGeom prst="roundRect">
            <a:avLst>
              <a:gd name="adj" fmla="val 15385"/>
            </a:avLst>
          </a:prstGeom>
          <a:solidFill>
            <a:srgbClr val="1E2D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80360" y="231343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point'te yapılacak iş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825496"/>
            <a:ext cx="8138160" cy="475488"/>
          </a:xfrm>
          <a:prstGeom prst="roundRect">
            <a:avLst>
              <a:gd name="adj" fmla="val 15385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8803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Point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80360" y="288036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Kodun çalışma anındaki nokta (metod çağrısı)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392424"/>
            <a:ext cx="8138160" cy="475488"/>
          </a:xfrm>
          <a:prstGeom prst="roundRect">
            <a:avLst>
              <a:gd name="adj" fmla="val 15385"/>
            </a:avLst>
          </a:prstGeom>
          <a:solidFill>
            <a:srgbClr val="1E2D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4472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Pointcut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80360" y="344728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join point'lerin eşleşeceğini tanımlar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959352"/>
            <a:ext cx="8138160" cy="475488"/>
          </a:xfrm>
          <a:prstGeom prst="roundRect">
            <a:avLst>
              <a:gd name="adj" fmla="val 15385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0142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Weaving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80360" y="401421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Aspect'in hedef koda bağlanması (runtime, proxy)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Uygulama Katmanı ve Veri Erişimi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SPRING AOP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Türleri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6916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@Before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12648" y="224028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metod çalışmadan önce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85416" y="150876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95144" y="16916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@After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95144" y="224028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metod çalıştıktan sonra (her durumda)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67912" y="150876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77640" y="16916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@AfterReturning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77640" y="224028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Başarıyla değer döndürdükten sonra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50408" y="150876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0136" y="16916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@AfterThrowing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0136" y="224028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 istisna fırlattığında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32904" y="1508760"/>
            <a:ext cx="1554480" cy="1828800"/>
          </a:xfrm>
          <a:prstGeom prst="roundRect">
            <a:avLst>
              <a:gd name="adj" fmla="val 4706"/>
            </a:avLst>
          </a:prstGeom>
          <a:solidFill>
            <a:srgbClr val="1E2D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42632" y="169164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@Around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42632" y="2240280"/>
            <a:ext cx="1335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Öncesi + sonrası; çalışıp çalışmayacağını kontrol eder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E2D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74904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34440" y="37033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Alanları:  performans ölçümü  •  audit-log  •  method-level güvenlik  •  retry mekanizmaları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Uygulama Katmanı ve Veri Erişimi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RESTFUL SERVIS MIMARISI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Prensipleri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61848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367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Statelessness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04088" y="2148840"/>
            <a:ext cx="3575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 istekler arasında client durumu tutmaz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61848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6367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 URI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64608" y="2148840"/>
            <a:ext cx="3575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/orders/42 gibi kaynak odaklı adresleme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30175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21868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2369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Metodu = Eylem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04088" y="3749040"/>
            <a:ext cx="3575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okuma · POST oluşturma · PUT/PATCH güncelleme · DELETE silme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30175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21868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2369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864608" y="3749040"/>
            <a:ext cx="3575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Kaynağın JSON/XML formatında sunulması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Uygulama Katmanı ve Veri Erişimi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RESTFUL SERVIS MIMARISI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Durum Kodları &amp; DTO Kullanımı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" cy="1051560"/>
          </a:xfrm>
          <a:prstGeom prst="roundRect">
            <a:avLst>
              <a:gd name="adj" fmla="val 6957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087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00784" y="1417320"/>
            <a:ext cx="1115568" cy="1051560"/>
          </a:xfrm>
          <a:prstGeom prst="roundRect">
            <a:avLst>
              <a:gd name="adj" fmla="val 6957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00784" y="15087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46504" y="19933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98648" y="1417320"/>
            <a:ext cx="1115568" cy="1051560"/>
          </a:xfrm>
          <a:prstGeom prst="roundRect">
            <a:avLst>
              <a:gd name="adj" fmla="val 6957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98648" y="15087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44368" y="19933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96512" y="1417320"/>
            <a:ext cx="1115568" cy="1051560"/>
          </a:xfrm>
          <a:prstGeom prst="roundRect">
            <a:avLst>
              <a:gd name="adj" fmla="val 6957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96512" y="15087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42232" y="19933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94376" y="1417320"/>
            <a:ext cx="1115568" cy="1051560"/>
          </a:xfrm>
          <a:prstGeom prst="roundRect">
            <a:avLst>
              <a:gd name="adj" fmla="val 6957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94376" y="15087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401/403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40096" y="19933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Yetkisiz/Yasak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92240" y="1417320"/>
            <a:ext cx="1115568" cy="1051560"/>
          </a:xfrm>
          <a:prstGeom prst="roundRect">
            <a:avLst>
              <a:gd name="adj" fmla="val 6957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5087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37960" y="19933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90104" y="1417320"/>
            <a:ext cx="1115568" cy="1051560"/>
          </a:xfrm>
          <a:prstGeom prst="roundRect">
            <a:avLst>
              <a:gd name="adj" fmla="val 6957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90104" y="150876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35824" y="1993392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2697480"/>
            <a:ext cx="8138160" cy="1691640"/>
          </a:xfrm>
          <a:prstGeom prst="roundRect">
            <a:avLst>
              <a:gd name="adj" fmla="val 4324"/>
            </a:avLst>
          </a:prstGeom>
          <a:solidFill>
            <a:srgbClr val="1E2D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07792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25880" y="2907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Kullanımının Önemi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31520" y="3337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Entity'lerin doğrudan dışarı sunulması, veritabanı yapısının sızmasına ve LazyInitializationException hatalarına yol açar.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31520" y="3749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katman kendi DTO'sunu kullanmalı, Entity ↔ DTO dönüşümü mapper sınıfları veya MapStruct ile yapılmalıdır.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Uygulama Katmanı ve Veri Erişimi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SPRING DATA JPA &amp; POSTGRESQL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Katmanı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(spesifikasyon) → Hibernate (implementasyon) → Entity'leri tablolara eşler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8138160" cy="685800"/>
          </a:xfrm>
          <a:prstGeom prst="roundRect">
            <a:avLst>
              <a:gd name="adj" fmla="val 10667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19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CrudRepository&lt;T, ID&gt;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CRUD: save, findById, delete, findAll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542032"/>
            <a:ext cx="7818120" cy="685800"/>
          </a:xfrm>
          <a:prstGeom prst="roundRect">
            <a:avLst>
              <a:gd name="adj" fmla="val 10667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624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PagingAndSortingRepository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907792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CrudRepository + sayfalama ve sıralama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43000" y="3346704"/>
            <a:ext cx="7498080" cy="685800"/>
          </a:xfrm>
          <a:prstGeom prst="roundRect">
            <a:avLst>
              <a:gd name="adj" fmla="val 10667"/>
            </a:avLst>
          </a:prstGeom>
          <a:solidFill>
            <a:srgbClr val="1E2D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JpaRepository&lt;T, ID&gt;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71246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Yukarıdakiler + flush, batch delete gibi JPA'ya özgü metodlar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081989"/>
            <a:ext cx="8138160" cy="685800"/>
          </a:xfrm>
          <a:prstGeom prst="roundRect">
            <a:avLst>
              <a:gd name="adj" fmla="val 10667"/>
            </a:avLst>
          </a:prstGeom>
          <a:solidFill>
            <a:srgbClr val="1E2D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160520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34440" y="41148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ddl-auto: update/create yalnızca dev ortamında! Production'da Flyway / Liquibase kullanılmalı.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Uygulama Katmanı ve Veri Erişimi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SPRING DATA JPA &amp; POSTGRESQL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Method'lar ve Sorgu Türleri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Method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findByCustomerIdAndStatus(...)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0" y="1554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 isminden otomatik SQL üretimi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78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JPQL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898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@Query("SELECT s FROM Order s WHERE...")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0" y="257860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nesneleri üzerinden sorgu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511296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6027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SQL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39227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@Query(value="...", nativeQuery=true)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0" y="360273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SQL, veritabanına özel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Uygulama Katmanı ve Veri Erişimi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CLEAN ARCHITECTURE VE N-TIER MIMARI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N-Tier Katman Yapısı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196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14600" y="15087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isteğini karşılar, DTO'ya çevirir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0756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03704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1E2D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2951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14600" y="2295144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kurallarını uygular, transaction sınırı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2862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90088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081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3924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308152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ile iletişim kurar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36484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76472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1E2D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8679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1788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14600" y="386791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tablosuna karşılık gelen domain modeli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460857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 yönü her zaman dıştan içe: Controller → Service → Repository → Entity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Uygulama Katmanı ve Veri Erişimi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CLEAN ARCHITECTURE VE N-TIER MIMARI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Organizasyon Stratejileri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1A2E3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6420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(Katman Bazlı)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controller/, service/, repository/, entity/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2788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/ orta ölçekli projelerde yaygın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1E2D40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916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66420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(Özellik Bazlı)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92040" y="2377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order/, customer/, stock/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92040" y="278892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iş alanı kendi paketinde — büyük projeler ve mikroservise geçiş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3703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kuralları framework'ten bağımsız kalmalı: Domain katmanı doğrudan JPA/Spring anotasyonlarına bağımlı olmamalı, arayüzler (port) üzerinden soyutlanmalıdır.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0292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Uygulama Katmanı ve Veri Erişimi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366760" y="4864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A2E3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ÖZET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Çıkarımlar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54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AOP, cross-cutting concern'leri (log, transaction) iş mantığından merkezi biçimde ayırır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5856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21284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kaynak (resource) odaklıdır; DTO kullanımı Entity'nin dışarı sızmasını engeller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16936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8712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JPA, Repository katmanında boilerplate veri erişim kodunu ortadan kaldırır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75304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5295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 mimaride bağımlılık her zaman dıştan içe akar: Controller → Service → Repository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4864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Sıradaki: Modül 3 — Kalite, Güvenlik ve Operasyon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</Words>
  <Application>Microsoft Office PowerPoint</Application>
  <PresentationFormat>Ekran Gösterisi (16:9)</PresentationFormat>
  <Paragraphs>164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Mastery - Modül 2</dc:title>
  <dc:subject>PptxGenJS Presentation</dc:subject>
  <dc:creator>Neominal Akademi</dc:creator>
  <cp:lastModifiedBy>Mert Alptekin (Egitici)</cp:lastModifiedBy>
  <cp:revision>2</cp:revision>
  <dcterms:created xsi:type="dcterms:W3CDTF">2026-07-03T10:46:02Z</dcterms:created>
  <dcterms:modified xsi:type="dcterms:W3CDTF">2026-07-03T11:00:26Z</dcterms:modified>
</cp:coreProperties>
</file>